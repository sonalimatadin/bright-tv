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TV - Pivot Tables.xlsx]PVT. Table!PivotTable1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Brigh</a:t>
            </a:r>
            <a:r>
              <a:rPr lang="en-ZA" baseline="0"/>
              <a:t>t TV</a:t>
            </a:r>
            <a:endParaRPr lang="en-ZA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ZA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'PVT. Table'!$B$3</c:f>
              <c:strCache>
                <c:ptCount val="1"/>
                <c:pt idx="0">
                  <c:v>Sum of total_active_users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'PVT. Table'!$A$4:$A$8</c:f>
              <c:multiLvlStrCache>
                <c:ptCount val="2"/>
                <c:lvl>
                  <c:pt idx="0">
                    <c:v>Bright News</c:v>
                  </c:pt>
                  <c:pt idx="1">
                    <c:v>(blank)</c:v>
                  </c:pt>
                </c:lvl>
                <c:lvl>
                  <c:pt idx="0">
                    <c:v>Gauteng</c:v>
                  </c:pt>
                  <c:pt idx="1">
                    <c:v>(blank)</c:v>
                  </c:pt>
                </c:lvl>
              </c:multiLvlStrCache>
            </c:multiLvlStrRef>
          </c:cat>
          <c:val>
            <c:numRef>
              <c:f>'PVT. Table'!$B$4:$B$8</c:f>
              <c:numCache>
                <c:formatCode>General</c:formatCode>
                <c:ptCount val="2"/>
                <c:pt idx="0">
                  <c:v>1582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72-4B1B-BB30-6BCA83312309}"/>
            </c:ext>
          </c:extLst>
        </c:ser>
        <c:ser>
          <c:idx val="1"/>
          <c:order val="1"/>
          <c:tx>
            <c:strRef>
              <c:f>'PVT. Table'!$C$3</c:f>
              <c:strCache>
                <c:ptCount val="1"/>
                <c:pt idx="0">
                  <c:v>Sum of total_sessions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multiLvlStrRef>
              <c:f>'PVT. Table'!$A$4:$A$8</c:f>
              <c:multiLvlStrCache>
                <c:ptCount val="2"/>
                <c:lvl>
                  <c:pt idx="0">
                    <c:v>Bright News</c:v>
                  </c:pt>
                  <c:pt idx="1">
                    <c:v>(blank)</c:v>
                  </c:pt>
                </c:lvl>
                <c:lvl>
                  <c:pt idx="0">
                    <c:v>Gauteng</c:v>
                  </c:pt>
                  <c:pt idx="1">
                    <c:v>(blank)</c:v>
                  </c:pt>
                </c:lvl>
              </c:multiLvlStrCache>
            </c:multiLvlStrRef>
          </c:cat>
          <c:val>
            <c:numRef>
              <c:f>'PVT. Table'!$C$4:$C$8</c:f>
              <c:numCache>
                <c:formatCode>General</c:formatCode>
                <c:ptCount val="2"/>
                <c:pt idx="0">
                  <c:v>3521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372-4B1B-BB30-6BCA83312309}"/>
            </c:ext>
          </c:extLst>
        </c:ser>
        <c:ser>
          <c:idx val="2"/>
          <c:order val="2"/>
          <c:tx>
            <c:strRef>
              <c:f>'PVT. Table'!$D$3</c:f>
              <c:strCache>
                <c:ptCount val="1"/>
                <c:pt idx="0">
                  <c:v>Sum of total_hours_watched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multiLvlStrRef>
              <c:f>'PVT. Table'!$A$4:$A$8</c:f>
              <c:multiLvlStrCache>
                <c:ptCount val="2"/>
                <c:lvl>
                  <c:pt idx="0">
                    <c:v>Bright News</c:v>
                  </c:pt>
                  <c:pt idx="1">
                    <c:v>(blank)</c:v>
                  </c:pt>
                </c:lvl>
                <c:lvl>
                  <c:pt idx="0">
                    <c:v>Gauteng</c:v>
                  </c:pt>
                  <c:pt idx="1">
                    <c:v>(blank)</c:v>
                  </c:pt>
                </c:lvl>
              </c:multiLvlStrCache>
            </c:multiLvlStrRef>
          </c:cat>
          <c:val>
            <c:numRef>
              <c:f>'PVT. Table'!$D$4:$D$8</c:f>
              <c:numCache>
                <c:formatCode>General</c:formatCode>
                <c:ptCount val="2"/>
                <c:pt idx="0">
                  <c:v>1245.77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372-4B1B-BB30-6BCA83312309}"/>
            </c:ext>
          </c:extLst>
        </c:ser>
        <c:ser>
          <c:idx val="3"/>
          <c:order val="3"/>
          <c:tx>
            <c:strRef>
              <c:f>'PVT. Table'!$E$3</c:f>
              <c:strCache>
                <c:ptCount val="1"/>
                <c:pt idx="0">
                  <c:v>Sum of avg_minutes_per_session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multiLvlStrRef>
              <c:f>'PVT. Table'!$A$4:$A$8</c:f>
              <c:multiLvlStrCache>
                <c:ptCount val="2"/>
                <c:lvl>
                  <c:pt idx="0">
                    <c:v>Bright News</c:v>
                  </c:pt>
                  <c:pt idx="1">
                    <c:v>(blank)</c:v>
                  </c:pt>
                </c:lvl>
                <c:lvl>
                  <c:pt idx="0">
                    <c:v>Gauteng</c:v>
                  </c:pt>
                  <c:pt idx="1">
                    <c:v>(blank)</c:v>
                  </c:pt>
                </c:lvl>
              </c:multiLvlStrCache>
            </c:multiLvlStrRef>
          </c:cat>
          <c:val>
            <c:numRef>
              <c:f>'PVT. Table'!$E$4:$E$8</c:f>
              <c:numCache>
                <c:formatCode>General</c:formatCode>
                <c:ptCount val="2"/>
                <c:pt idx="0">
                  <c:v>38.9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372-4B1B-BB30-6BCA83312309}"/>
            </c:ext>
          </c:extLst>
        </c:ser>
        <c:ser>
          <c:idx val="4"/>
          <c:order val="4"/>
          <c:tx>
            <c:strRef>
              <c:f>'PVT. Table'!$F$3</c:f>
              <c:strCache>
                <c:ptCount val="1"/>
                <c:pt idx="0">
                  <c:v>Sum of users_in_top_province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multiLvlStrRef>
              <c:f>'PVT. Table'!$A$4:$A$8</c:f>
              <c:multiLvlStrCache>
                <c:ptCount val="2"/>
                <c:lvl>
                  <c:pt idx="0">
                    <c:v>Bright News</c:v>
                  </c:pt>
                  <c:pt idx="1">
                    <c:v>(blank)</c:v>
                  </c:pt>
                </c:lvl>
                <c:lvl>
                  <c:pt idx="0">
                    <c:v>Gauteng</c:v>
                  </c:pt>
                  <c:pt idx="1">
                    <c:v>(blank)</c:v>
                  </c:pt>
                </c:lvl>
              </c:multiLvlStrCache>
            </c:multiLvlStrRef>
          </c:cat>
          <c:val>
            <c:numRef>
              <c:f>'PVT. Table'!$F$4:$F$8</c:f>
              <c:numCache>
                <c:formatCode>General</c:formatCode>
                <c:ptCount val="2"/>
                <c:pt idx="0">
                  <c:v>612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372-4B1B-BB30-6BCA833123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90500216"/>
        <c:axId val="690501296"/>
      </c:barChart>
      <c:catAx>
        <c:axId val="6905002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0501296"/>
        <c:crosses val="autoZero"/>
        <c:auto val="1"/>
        <c:lblAlgn val="ctr"/>
        <c:lblOffset val="100"/>
        <c:noMultiLvlLbl val="0"/>
      </c:catAx>
      <c:valAx>
        <c:axId val="6905012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05002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FDAFA-235B-400F-5499-EC02CD5C43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04CEB2-F366-1311-326E-FE4BF2848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ED8E7-0EEC-E381-A625-A492F3C2B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795AC-D0F8-476E-B2B0-0B23E21536D9}" type="datetimeFigureOut">
              <a:rPr lang="en-ZA" smtClean="0"/>
              <a:t>16/11/2025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F1A6C-125E-2392-EDBF-9DC0C3FB4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27A1F-9EC5-65AA-E7E8-7B96BD17B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B07B7-0F28-48C9-9DEA-BB276C5565F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60019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0274D-72A8-78EE-3613-5CF81EBDC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D47AF-3FBC-7D1E-B02E-E26902E72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F7F18-D5B9-2AA9-6E5D-7065B6A62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795AC-D0F8-476E-B2B0-0B23E21536D9}" type="datetimeFigureOut">
              <a:rPr lang="en-ZA" smtClean="0"/>
              <a:t>16/11/2025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45B01-E8D2-9B53-E9D3-D327D1E85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6CAB2-927D-6410-8802-E45C74B1A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B07B7-0F28-48C9-9DEA-BB276C5565F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8690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21BF0-1FBE-BF2C-902D-372773F82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38DC7-98B4-E5D0-C4E7-E3B8D831F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D7B47-FF56-3027-07ED-030C5684C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795AC-D0F8-476E-B2B0-0B23E21536D9}" type="datetimeFigureOut">
              <a:rPr lang="en-ZA" smtClean="0"/>
              <a:t>16/11/2025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2123A-1E5A-E64A-BD83-47F1CD597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759F8-3015-6ED7-9758-E040CDC71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B07B7-0F28-48C9-9DEA-BB276C5565F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77120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EB55A-B29B-BE25-F9FF-70C8D6BAB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7B2A4-4336-8ABF-4FC1-B370B0C462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7A3B60-F8DE-9805-A094-BADAADC42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44344-C32D-271C-224A-7DE016215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795AC-D0F8-476E-B2B0-0B23E21536D9}" type="datetimeFigureOut">
              <a:rPr lang="en-ZA" smtClean="0"/>
              <a:t>16/11/2025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FF3CA-9124-8288-23AB-D2E4977E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223485-86D3-8420-8152-B5108C69E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B07B7-0F28-48C9-9DEA-BB276C5565F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77750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CF6ED-8C0B-972C-C17C-8D46CCBA7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39598-281F-B880-8F7B-F35B59AEC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2326C6-84FA-E215-20FF-10191144A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B8AC3D-3378-C53A-3E31-8D9D766F92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AACA54-1493-A89D-0208-89D2839109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B6481F-1750-4F9E-C2CD-225C16E30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795AC-D0F8-476E-B2B0-0B23E21536D9}" type="datetimeFigureOut">
              <a:rPr lang="en-ZA" smtClean="0"/>
              <a:t>16/11/2025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F536DE-5C81-B669-0A17-8764AB82F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054AC2-BE13-FC46-D92E-C361FA6CD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B07B7-0F28-48C9-9DEA-BB276C5565F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07939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CF4FD-B1D3-F7BB-FD49-6B64E4CC9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1C4C98-CA69-892D-0261-D7E6C652A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795AC-D0F8-476E-B2B0-0B23E21536D9}" type="datetimeFigureOut">
              <a:rPr lang="en-ZA" smtClean="0"/>
              <a:t>16/11/2025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05E10C-F474-3309-1B70-D5AB4DAA3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75A916-43B6-9A4D-9444-ED75967F8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B07B7-0F28-48C9-9DEA-BB276C5565F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24338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9C9F4A-5193-A031-2256-CCEC42AAA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795AC-D0F8-476E-B2B0-0B23E21536D9}" type="datetimeFigureOut">
              <a:rPr lang="en-ZA" smtClean="0"/>
              <a:t>16/11/2025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BEDC37-642E-EB06-CFF7-7EEB423F0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5D5DD-C8FC-3987-1881-24BC2503F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B07B7-0F28-48C9-9DEA-BB276C5565F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56160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7585C-BD7F-C7FB-7E3A-7369085C5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6DCAE-4195-28B7-DDED-C34682EA3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AA418-29AB-D09A-CB76-34BB6C3D1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5F828D-FAAA-67E4-6AA9-EDCC49CE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795AC-D0F8-476E-B2B0-0B23E21536D9}" type="datetimeFigureOut">
              <a:rPr lang="en-ZA" smtClean="0"/>
              <a:t>16/11/2025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60AD13-55E1-ED10-B8E3-FB8012E03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85925-3343-D06F-0A49-BDAFD98BA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B07B7-0F28-48C9-9DEA-BB276C5565F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59028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C54B5-85D7-2F53-5BC5-A409581E3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BEAF90-67A9-0C2D-73AC-77FABAE23B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45CDB7-DDFC-8F63-D74D-66D972F36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0CCDE9-383A-E923-84C8-0C8E57355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795AC-D0F8-476E-B2B0-0B23E21536D9}" type="datetimeFigureOut">
              <a:rPr lang="en-ZA" smtClean="0"/>
              <a:t>16/11/2025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55F18-A419-B855-FCC6-AE6735375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9FD965-235D-E840-7D1F-7DCC866BF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B07B7-0F28-48C9-9DEA-BB276C5565F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60663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B610B-0528-0994-8DC5-B4D1C96D1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E26B70-02CC-DF57-415F-A422A006D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31175-7486-C432-083D-06254E750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795AC-D0F8-476E-B2B0-0B23E21536D9}" type="datetimeFigureOut">
              <a:rPr lang="en-ZA" smtClean="0"/>
              <a:t>16/11/2025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1E708-2B49-E0BA-CD74-E878B79A5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56629-066F-7EAC-AB55-4E6CA612B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B07B7-0F28-48C9-9DEA-BB276C5565F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42591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EFEF37-81BC-EF3F-1124-136E5EF38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3EFBB8-FD54-8E40-8A53-6DBDD538C9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D7CDA-E1A5-392D-B364-BEDF36932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795AC-D0F8-476E-B2B0-0B23E21536D9}" type="datetimeFigureOut">
              <a:rPr lang="en-ZA" smtClean="0"/>
              <a:t>16/11/2025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9FFBB-233A-4953-1E76-4B1B1C0D5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1F054-1001-433F-3DB6-D12DC9236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B07B7-0F28-48C9-9DEA-BB276C5565F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69280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B05C7F-9FE6-98F8-E480-ECA8A8EB6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9390F-8A31-721C-3D3B-F2D84FC5C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F2C87-9F0F-441B-50A8-9CC6690961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795AC-D0F8-476E-B2B0-0B23E21536D9}" type="datetimeFigureOut">
              <a:rPr lang="en-ZA" smtClean="0"/>
              <a:t>16/11/2025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3C148-5D2B-E1B0-7929-8B6A355D2C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1C706-C06F-9A3F-FC74-1E2419C7BA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6B07B7-0F28-48C9-9DEA-BB276C5565F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6381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A575327-F24E-ACB7-2BFC-CCD73B6D17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9185374"/>
              </p:ext>
            </p:extLst>
          </p:nvPr>
        </p:nvGraphicFramePr>
        <p:xfrm>
          <a:off x="0" y="0"/>
          <a:ext cx="12192000" cy="6857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5413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Kavitha</dc:creator>
  <cp:lastModifiedBy>Kavitha</cp:lastModifiedBy>
  <cp:revision>1</cp:revision>
  <dcterms:created xsi:type="dcterms:W3CDTF">2025-11-16T09:31:27Z</dcterms:created>
  <dcterms:modified xsi:type="dcterms:W3CDTF">2025-11-16T09:31:52Z</dcterms:modified>
</cp:coreProperties>
</file>